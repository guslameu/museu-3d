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0382" y="590702"/>
            <a:ext cx="1927555" cy="1927555"/>
          </a:xfrm>
          <a:prstGeom prst="ellipse">
            <a:avLst/>
          </a:prstGeom>
          <a:solidFill>
            <a:srgbClr val="FFCE6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43846" y="874166"/>
            <a:ext cx="1360627" cy="1360627"/>
          </a:xfrm>
          <a:prstGeom prst="ellipse">
            <a:avLst/>
          </a:prstGeom>
          <a:solidFill>
            <a:srgbClr val="FFCE6B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57232" y="987552"/>
            <a:ext cx="1133856" cy="1133856"/>
          </a:xfrm>
          <a:prstGeom prst="ellipse">
            <a:avLst/>
          </a:prstGeom>
          <a:solidFill>
            <a:srgbClr val="FFCE6B"/>
          </a:solidFill>
          <a:ln/>
        </p:spPr>
      </p:sp>
      <p:sp>
        <p:nvSpPr>
          <p:cNvPr id="5" name="Shape 3"/>
          <p:cNvSpPr/>
          <p:nvPr/>
        </p:nvSpPr>
        <p:spPr>
          <a:xfrm>
            <a:off x="10905134" y="2401214"/>
            <a:ext cx="683971" cy="683971"/>
          </a:xfrm>
          <a:prstGeom prst="ellipse">
            <a:avLst/>
          </a:prstGeom>
          <a:solidFill>
            <a:srgbClr val="F2994A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05718" y="2501798"/>
            <a:ext cx="482803" cy="482803"/>
          </a:xfrm>
          <a:prstGeom prst="ellipse">
            <a:avLst/>
          </a:prstGeom>
          <a:solidFill>
            <a:srgbClr val="F2994A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045952" y="2542032"/>
            <a:ext cx="402336" cy="40233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 GRÁFICA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Museu </a:t>
            </a:r>
            <a:pPr indent="0" marL="0">
              <a:buNone/>
            </a:pPr>
            <a:r>
              <a:rPr lang="en-US" sz="6000" b="1" dirty="0">
                <a:solidFill>
                  <a:srgbClr val="FFC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Virtual 3D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passeio virtual em 1ª pessoa por uma galeria de esculturas ao entardecer — renderizado em WebGL2 puro com shaders GLSL ES 3.00.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FFC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976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WebGL2 cru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4297680"/>
            <a:ext cx="1559052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4297680"/>
            <a:ext cx="15590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GLSL 300 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10812" y="4297680"/>
            <a:ext cx="2327148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10812" y="4297680"/>
            <a:ext cx="23271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por fragmento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20840" y="4297680"/>
            <a:ext cx="1367028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A38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4297680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gl-matrix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______________________________     ·     Disciplina de Computação Gráfica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Construir, do zero, uma cena 3D interativa demonstrando os pilares da Computação Gráfica em tempo real — sem usar nenhuma engine ou biblioteca gráfica de alto nível.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geometria é gerada por código e a iluminação é calculada nos shaders. A única dependência externa é a gl-matrix (álgebra linear).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55080" y="1783080"/>
            <a:ext cx="5074920" cy="1325880"/>
          </a:xfrm>
          <a:prstGeom prst="roundRect">
            <a:avLst>
              <a:gd name="adj" fmla="val 6897"/>
            </a:avLst>
          </a:prstGeom>
          <a:solidFill>
            <a:srgbClr val="1B2540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55080" y="1783080"/>
            <a:ext cx="82296" cy="1325880"/>
          </a:xfrm>
          <a:prstGeom prst="rect">
            <a:avLst/>
          </a:prstGeom>
          <a:solidFill>
            <a:srgbClr val="FFCE6B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9476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Domínio do pipeline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29400" y="240487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Vértices → shaders → pixels, controlado manualmente.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55080" y="3291840"/>
            <a:ext cx="5074920" cy="1325880"/>
          </a:xfrm>
          <a:prstGeom prst="roundRect">
            <a:avLst>
              <a:gd name="adj" fmla="val 6897"/>
            </a:avLst>
          </a:prstGeom>
          <a:solidFill>
            <a:srgbClr val="1B2540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3291840"/>
            <a:ext cx="82296" cy="1325880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34564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Cena imersiva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629400" y="391363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em 1ª pessoa, com clima e iluminação dinâmicos.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55080" y="4800600"/>
            <a:ext cx="5074920" cy="1325880"/>
          </a:xfrm>
          <a:prstGeom prst="roundRect">
            <a:avLst>
              <a:gd name="adj" fmla="val 6897"/>
            </a:avLst>
          </a:prstGeom>
          <a:solidFill>
            <a:srgbClr val="1B2540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4800600"/>
            <a:ext cx="82296" cy="1325880"/>
          </a:xfrm>
          <a:prstGeom prst="rect">
            <a:avLst/>
          </a:prstGeom>
          <a:solidFill>
            <a:srgbClr val="A3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49651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Código limpo e modular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629400" y="5422392"/>
            <a:ext cx="4617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orientada a dados, fácil de estender.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 Virtual 3D · WebGL2 + GLSL 300 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passeio virtual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865376"/>
            <a:ext cx="274320" cy="274320"/>
          </a:xfrm>
          <a:prstGeom prst="ellipse">
            <a:avLst/>
          </a:prstGeom>
          <a:solidFill>
            <a:srgbClr val="FFCE6B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Pátio de esculturas a céu aberto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221284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salão com chão de madeira e faixa de mármore, paredes com quadros e o céu visível acima.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944368"/>
            <a:ext cx="274320" cy="27432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9077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Esculturas sobre pedestais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Cubo, esfera, cilindro e torus — geometria gerada por código, em cores sólidas.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4023360"/>
            <a:ext cx="274320" cy="274320"/>
          </a:xfrm>
          <a:prstGeom prst="ellipse">
            <a:avLst/>
          </a:prstGeom>
          <a:solidFill>
            <a:srgbClr val="FF8FA3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867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Escultura central girando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43708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torus dourado em destaque, animado por transformação no tempo.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5102352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5065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Sol cruzando o céu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544982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luz pontual em movimento que muda a cor da luz e do céu (dia → entardecer → noite).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83096" y="1728216"/>
            <a:ext cx="5093208" cy="4315968"/>
          </a:xfrm>
          <a:prstGeom prst="rect">
            <a:avLst/>
          </a:prstGeom>
          <a:solidFill>
            <a:srgbClr val="000000"/>
          </a:solidFill>
          <a:ln w="19050">
            <a:solidFill>
              <a:srgbClr val="FFCE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sessions/stoic-quirky-bell/mnt/Comp Grafica/docs/scene_layo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783080"/>
            <a:ext cx="4983480" cy="42062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 Virtual 3D · WebGL2 + GLSL 300 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DA NOTA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Requisitos técnicos atendidos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511296" cy="1874520"/>
          </a:xfrm>
          <a:prstGeom prst="roundRect">
            <a:avLst>
              <a:gd name="adj" fmla="val 4878"/>
            </a:avLst>
          </a:prstGeom>
          <a:solidFill>
            <a:srgbClr val="1B2540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084832"/>
            <a:ext cx="457200" cy="457200"/>
          </a:xfrm>
          <a:prstGeom prst="ellipse">
            <a:avLst/>
          </a:prstGeom>
          <a:solidFill>
            <a:srgbClr val="FFCE6B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10312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Projeção + Câmera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 (mat4.perspective) e câmera 1ª pessoa com yaw/pitch.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828800"/>
            <a:ext cx="3511296" cy="1874520"/>
          </a:xfrm>
          <a:prstGeom prst="roundRect">
            <a:avLst>
              <a:gd name="adj" fmla="val 4878"/>
            </a:avLst>
          </a:prstGeom>
          <a:solidFill>
            <a:srgbClr val="1B2540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84832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30368" y="210312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Iluminação Phong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36008" y="274320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+ difusa + especular, calculada por fragmento.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91856" y="1828800"/>
            <a:ext cx="3511296" cy="1874520"/>
          </a:xfrm>
          <a:prstGeom prst="roundRect">
            <a:avLst>
              <a:gd name="adj" fmla="val 4878"/>
            </a:avLst>
          </a:prstGeom>
          <a:solidFill>
            <a:srgbClr val="1B2540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47888" y="2084832"/>
            <a:ext cx="457200" cy="45720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6" name="Text 14"/>
          <p:cNvSpPr/>
          <p:nvPr/>
        </p:nvSpPr>
        <p:spPr>
          <a:xfrm>
            <a:off x="8247888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60536" y="2103120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Animação 3D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66176" y="2743200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Esculturas girando via mat4.rotate dependente do tempo.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867912"/>
            <a:ext cx="3511296" cy="1874520"/>
          </a:xfrm>
          <a:prstGeom prst="roundRect">
            <a:avLst>
              <a:gd name="adj" fmla="val 4878"/>
            </a:avLst>
          </a:prstGeom>
          <a:solidFill>
            <a:srgbClr val="1B2540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7552" y="4123944"/>
            <a:ext cx="457200" cy="457200"/>
          </a:xfrm>
          <a:prstGeom prst="ellipse">
            <a:avLst/>
          </a:prstGeom>
          <a:solidFill>
            <a:srgbClr val="A3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142232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Texturização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05840" y="4782312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Chão, mármore e quadros com texturas (mipmaps, flipY).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61688" y="3867912"/>
            <a:ext cx="3511296" cy="1874520"/>
          </a:xfrm>
          <a:prstGeom prst="roundRect">
            <a:avLst>
              <a:gd name="adj" fmla="val 4878"/>
            </a:avLst>
          </a:prstGeom>
          <a:solidFill>
            <a:srgbClr val="1B2540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123944"/>
            <a:ext cx="457200" cy="457200"/>
          </a:xfrm>
          <a:prstGeom prst="ellipse">
            <a:avLst/>
          </a:prstGeom>
          <a:solidFill>
            <a:srgbClr val="FF8FA3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30368" y="4142232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 sólida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36008" y="4782312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Pedestais e esculturas com material de cor sólida.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991856" y="3867912"/>
            <a:ext cx="3511296" cy="1874520"/>
          </a:xfrm>
          <a:prstGeom prst="roundRect">
            <a:avLst>
              <a:gd name="adj" fmla="val 4878"/>
            </a:avLst>
          </a:prstGeom>
          <a:solidFill>
            <a:srgbClr val="1B2540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47888" y="4123944"/>
            <a:ext cx="457200" cy="457200"/>
          </a:xfrm>
          <a:prstGeom prst="ellipse">
            <a:avLst/>
          </a:prstGeom>
          <a:solidFill>
            <a:srgbClr val="7BD88F"/>
          </a:solidFill>
          <a:ln/>
        </p:spPr>
      </p:sp>
      <p:sp>
        <p:nvSpPr>
          <p:cNvPr id="31" name="Text 29"/>
          <p:cNvSpPr/>
          <p:nvPr/>
        </p:nvSpPr>
        <p:spPr>
          <a:xfrm>
            <a:off x="8247888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860536" y="4142232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Interação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266176" y="4782312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 (WASD/setas) + mouse (Pointer Lock).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 Virtual 3D · WebGL2 + GLSL 300 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1 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Câmera, perspectiva e interação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em 1ª pessoa 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posição + ângulos yaw/pitch e deriva os vetores front/right/up. A view vem de mat4.lookAt; a projeção, de mat4.perspective. O pitch é travado em ±89° para evitar o flip.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nativa  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WASD/setas movem nos eixos locais (no plano, estilo caminhada); o mouse, via Pointer Lock, controla o olhar. Tudo usando deltaTime.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5212080"/>
            <a:ext cx="1175004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FFCE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212080"/>
            <a:ext cx="11750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A S 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71116" y="5212080"/>
            <a:ext cx="1175004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FFC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1116" y="5212080"/>
            <a:ext cx="11750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↓ ← 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10712" y="5212080"/>
            <a:ext cx="1655064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5212080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correr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30368" y="5212080"/>
            <a:ext cx="1559052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5212080"/>
            <a:ext cx="15590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olhar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54012" y="5212080"/>
            <a:ext cx="1271016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A3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54012" y="521208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 sair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0" y="1783080"/>
            <a:ext cx="5029200" cy="3703320"/>
          </a:xfrm>
          <a:prstGeom prst="roundRect">
            <a:avLst>
              <a:gd name="adj" fmla="val 2469"/>
            </a:avLst>
          </a:prstGeom>
          <a:solidFill>
            <a:srgbClr val="10172A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201168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camera.js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getProjectionMatrix(aspect)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mat4.perspective(proj,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toRad(FOV_DEGREES),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aspect, NEAR, FAR);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processMouse(dx, dy) 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this.yaw   += dx * SENS;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this.pitch -= dy * SENS;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clamp(pitch, -89, 89);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7E0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 Virtual 3D · WebGL2 + GLSL 300 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2 · DESTAQUE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Iluminação Phong + Sol animado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847088"/>
            <a:ext cx="310896" cy="310896"/>
          </a:xfrm>
          <a:prstGeom prst="ellipse">
            <a:avLst/>
          </a:prstGeom>
          <a:solidFill>
            <a:srgbClr val="FFCE6B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2212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de base; nunca deixa nada 100% preto.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926080"/>
            <a:ext cx="310896" cy="310896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907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Difusa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de Lambert: depende do ângulo luz × normal.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4005072"/>
            <a:ext cx="310896" cy="31089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Especular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43708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Brilho de Phong na direção do reflexo (R·V).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51206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EM MOVIMENTO: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Sol é uma luz pontual que percorre um arco. Sua cor, o especular e o céu mudam ao longo do ciclo dia → entardecer → noite.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45936" y="2459736"/>
            <a:ext cx="5550408" cy="2075688"/>
          </a:xfrm>
          <a:prstGeom prst="rect">
            <a:avLst/>
          </a:prstGeom>
          <a:solidFill>
            <a:srgbClr val="000000"/>
          </a:solidFill>
          <a:ln w="19050">
            <a:solidFill>
              <a:srgbClr val="F2994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0" descr="/sessions/stoic-quirky-bell/mnt/Comp Grafica/docs/sun_cy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2514600"/>
            <a:ext cx="5440680" cy="19659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 Virtual 3D · WebGL2 + GLSL 300 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3, 4 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Geometria, animação e materiais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1B2540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3383280" cy="109728"/>
          </a:xfrm>
          <a:prstGeom prst="rect">
            <a:avLst/>
          </a:prstGeom>
          <a:solidFill>
            <a:srgbClr val="FFCE6B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Geometria procedural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7552" y="3017520"/>
            <a:ext cx="2907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Plano, quad, cubo, esfera, cilindro e torus gerados por código — posições, normais, UVs e índices.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5029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C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geometry.js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1B2540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828800"/>
            <a:ext cx="3383280" cy="109728"/>
          </a:xfrm>
          <a:prstGeom prst="rect">
            <a:avLst/>
          </a:prstGeom>
          <a:solidFill>
            <a:srgbClr val="4FD1C5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Animação por transformação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45152" y="3017520"/>
            <a:ext cx="2907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Matrizes de modelo reconstruídas a cada frame (mat4.rotate no tempo), com deltaTime.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45152" y="5029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scene.js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383280" cy="3657600"/>
          </a:xfrm>
          <a:prstGeom prst="roundRect">
            <a:avLst>
              <a:gd name="adj" fmla="val 2703"/>
            </a:avLst>
          </a:prstGeom>
          <a:solidFill>
            <a:srgbClr val="1B2540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828800"/>
            <a:ext cx="3383280" cy="109728"/>
          </a:xfrm>
          <a:prstGeom prst="rect">
            <a:avLst/>
          </a:prstGeom>
          <a:solidFill>
            <a:srgbClr val="A3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8302752" y="21488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Texturas &amp; cor sólida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02752" y="3017520"/>
            <a:ext cx="2907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Madeira/mármore/quadros com mipmaps; pedestais e esculturas em cor sólida.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02752" y="5029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3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texture.js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 Virtual 3D · WebGL2 + GLSL 300 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DA NOTA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do código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10172A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       canvas + overlay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main.js         init + loop (rAF, dt)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gl-utils.js     shaders + helpers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geometry.js     geradores de malha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mesh.js         VAO + draw()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camera.js       1ª pessoa + perspectiva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input.js        WASD + Pointer Lock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texture.js      carga assíncrona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light.js        Sol animado (ciclo)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scene.js        cena orientada a dados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shaders/          phong.vert / .frag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libs/gl-matrix/   única lib externa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0" y="1874520"/>
            <a:ext cx="256032" cy="256032"/>
          </a:xfrm>
          <a:prstGeom prst="ellipse">
            <a:avLst/>
          </a:prstGeom>
          <a:solidFill>
            <a:srgbClr val="FFCE6B"/>
          </a:solidFill>
          <a:ln/>
        </p:spPr>
      </p:sp>
      <p:sp>
        <p:nvSpPr>
          <p:cNvPr id="7" name="Text 5"/>
          <p:cNvSpPr/>
          <p:nvPr/>
        </p:nvSpPr>
        <p:spPr>
          <a:xfrm>
            <a:off x="68122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Modular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12280" y="2194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arquivo tem uma responsabilidade clara.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898648"/>
            <a:ext cx="256032" cy="256032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852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Orientado a dados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12280" y="321868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scene.js devolve uma lista de objetos {mesh, modelMatrix, material, update}; o main só percorre e desenha.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3922776"/>
            <a:ext cx="256032" cy="256032"/>
          </a:xfrm>
          <a:prstGeom prst="ellipse">
            <a:avLst/>
          </a:prstGeom>
          <a:solidFill>
            <a:srgbClr val="A3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3877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build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812280" y="424281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puro (ES modules); roda servindo a pasta por HTTP.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4946904"/>
            <a:ext cx="256032" cy="256032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49011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Ajustável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12280" y="526694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 nomeadas (FOV, velocidades) no topo dos arquivos.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 Virtual 3D · WebGL2 + GLSL 300 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DA NOTA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Criatividade e design da cena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3816" y="1728216"/>
            <a:ext cx="5047488" cy="4315968"/>
          </a:xfrm>
          <a:prstGeom prst="rect">
            <a:avLst/>
          </a:prstGeom>
          <a:solidFill>
            <a:srgbClr val="000000"/>
          </a:solidFill>
          <a:ln w="19050">
            <a:solidFill>
              <a:srgbClr val="FFCE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sessions/stoic-quirky-bell/mnt/Comp Grafica/docs/textures_she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8680" y="1783080"/>
            <a:ext cx="493776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32320" y="1865376"/>
            <a:ext cx="274320" cy="274320"/>
          </a:xfrm>
          <a:prstGeom prst="ellipse">
            <a:avLst/>
          </a:prstGeom>
          <a:solidFill>
            <a:srgbClr val="FFCE6B"/>
          </a:solidFill>
          <a:ln/>
        </p:spPr>
      </p:sp>
      <p:sp>
        <p:nvSpPr>
          <p:cNvPr id="7" name="Text 4"/>
          <p:cNvSpPr/>
          <p:nvPr/>
        </p:nvSpPr>
        <p:spPr>
          <a:xfrm>
            <a:off x="754380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 ao entardecer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543800" y="21945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Céu e luz mudam de forma contínua, criando atmosfera.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132320" y="2898648"/>
            <a:ext cx="274320" cy="27432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0" name="Text 7"/>
          <p:cNvSpPr/>
          <p:nvPr/>
        </p:nvSpPr>
        <p:spPr>
          <a:xfrm>
            <a:off x="7543800" y="28620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Galeria curada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43800" y="32278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 quadros de arte gerada por código, em molduras douradas/escuras.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132320" y="3931920"/>
            <a:ext cx="274320" cy="274320"/>
          </a:xfrm>
          <a:prstGeom prst="ellipse">
            <a:avLst/>
          </a:prstGeom>
          <a:solidFill>
            <a:srgbClr val="FF8FA3"/>
          </a:solidFill>
          <a:ln/>
        </p:spPr>
      </p:sp>
      <p:sp>
        <p:nvSpPr>
          <p:cNvPr id="13" name="Text 10"/>
          <p:cNvSpPr/>
          <p:nvPr/>
        </p:nvSpPr>
        <p:spPr>
          <a:xfrm>
            <a:off x="7543800" y="38953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Materiais variados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543800" y="4261104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Dourados com especular forte, mármore polido, madeira fosca.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32320" y="4965192"/>
            <a:ext cx="274320" cy="274320"/>
          </a:xfrm>
          <a:prstGeom prst="ellipse">
            <a:avLst/>
          </a:prstGeom>
          <a:solidFill>
            <a:srgbClr val="A38CFF"/>
          </a:solidFill>
          <a:ln/>
        </p:spPr>
      </p:sp>
      <p:sp>
        <p:nvSpPr>
          <p:cNvPr id="16" name="Text 13"/>
          <p:cNvSpPr/>
          <p:nvPr/>
        </p:nvSpPr>
        <p:spPr>
          <a:xfrm>
            <a:off x="7543800" y="49286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Composição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543800" y="529437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Esculturas em cantos + destaque central girando guiam o olhar.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 Virtual 3D · WebGL2 + GLSL 300 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executar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FFCE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83794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Abrir a pasta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417320" y="225856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terminal, entre na pasta do projeto.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3154680"/>
            <a:ext cx="457200" cy="457200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31181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Subir um servidor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417320" y="3538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estático local (ES modules e texturas não carregam via file://).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4434840"/>
            <a:ext cx="457200" cy="457200"/>
          </a:xfrm>
          <a:prstGeom prst="ellipse">
            <a:avLst/>
          </a:prstGeom>
          <a:solidFill>
            <a:srgbClr val="A3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3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43982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Abrir no navegador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417320" y="481888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o endereço local em um navegador com WebGL2.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0" y="1874520"/>
            <a:ext cx="5029200" cy="2468880"/>
          </a:xfrm>
          <a:prstGeom prst="roundRect">
            <a:avLst>
              <a:gd name="adj" fmla="val 3704"/>
            </a:avLst>
          </a:prstGeom>
          <a:solidFill>
            <a:srgbClr val="10172A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210312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F8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na pasta do projeto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C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http.server 8000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7F8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abra no navegador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FD1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45720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na cena para travar o mouse e olhar; ESC para liberar.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 Virtual 3D · WebGL2 + GLSL 300 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4462272"/>
            <a:ext cx="1865376" cy="1865376"/>
          </a:xfrm>
          <a:prstGeom prst="ellipse">
            <a:avLst/>
          </a:prstGeom>
          <a:solidFill>
            <a:srgbClr val="F2994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" y="4736592"/>
            <a:ext cx="1316736" cy="1316736"/>
          </a:xfrm>
          <a:prstGeom prst="ellipse">
            <a:avLst/>
          </a:prstGeom>
          <a:solidFill>
            <a:srgbClr val="F2994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4846320"/>
            <a:ext cx="1097280" cy="109728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F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Computação Gráfica, na prática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9AA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cena 3D completa e interativa construída sobre WebGL2 cru: pipeline de render próprio, Phong por fragmento, geometria e texturas procedurais, animação e navegação em 1ª pessoa — com código modular e sem engines.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559052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FFCE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14800"/>
            <a:ext cx="15590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4892" y="411480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4892" y="4114800"/>
            <a:ext cx="9829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30752" y="4114800"/>
            <a:ext cx="1271016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411480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Animação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84648" y="4114800"/>
            <a:ext cx="1271016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A3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4114800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38544" y="4114800"/>
            <a:ext cx="1367028" cy="384048"/>
          </a:xfrm>
          <a:prstGeom prst="roundRect">
            <a:avLst>
              <a:gd name="adj" fmla="val 50000"/>
            </a:avLst>
          </a:prstGeom>
          <a:solidFill>
            <a:srgbClr val="222D4D"/>
          </a:solidFill>
          <a:ln w="12700">
            <a:solidFill>
              <a:srgbClr val="7BD8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8544" y="4114800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D8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4983480"/>
            <a:ext cx="10515600" cy="1097280"/>
          </a:xfrm>
          <a:prstGeom prst="roundRect">
            <a:avLst>
              <a:gd name="adj" fmla="val 8333"/>
            </a:avLst>
          </a:prstGeom>
          <a:solidFill>
            <a:srgbClr val="1B2540"/>
          </a:solidFill>
          <a:ln w="9525">
            <a:solidFill>
              <a:srgbClr val="FFFFFF">
                <a:alpha val="12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52852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</a:t>
            </a:r>
            <a:pPr indent="0" marL="0">
              <a:buNone/>
            </a:pPr>
            <a:r>
              <a:rPr lang="en-US" sz="160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DOS SLIDES AQUI]      </a:t>
            </a:r>
            <a:pPr indent="0" marL="0">
              <a:buNone/>
            </a:pPr>
            <a:r>
              <a:rPr lang="en-US" sz="1600" b="1" dirty="0">
                <a:solidFill>
                  <a:srgbClr val="FF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Vídeo: </a:t>
            </a:r>
            <a:pPr indent="0" marL="0">
              <a:buNone/>
            </a:pPr>
            <a:r>
              <a:rPr lang="en-US" sz="1600" dirty="0">
                <a:solidFill>
                  <a:srgbClr val="F4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 DO VÍDEO AQUI]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Museu Virtual 3D — WebGL2</dc:title>
  <dc:subject>PptxGenJS Presentation</dc:subject>
  <dc:creator>Computacao Grafica</dc:creator>
  <cp:lastModifiedBy>Computacao Grafica</cp:lastModifiedBy>
  <cp:revision>1</cp:revision>
  <dcterms:created xsi:type="dcterms:W3CDTF">2026-06-19T02:21:18Z</dcterms:created>
  <dcterms:modified xsi:type="dcterms:W3CDTF">2026-06-19T02:21:18Z</dcterms:modified>
</cp:coreProperties>
</file>